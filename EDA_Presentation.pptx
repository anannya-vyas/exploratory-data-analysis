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37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892175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rPr dirty="0"/>
              <a:t>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From Fundamentals to Advanced Techniques</a:t>
            </a:r>
          </a:p>
          <a:p>
            <a:endParaRPr dirty="0"/>
          </a:p>
          <a:p>
            <a:r>
              <a:rPr lang="en-US" dirty="0"/>
              <a:t>Anannya Vyas </a:t>
            </a:r>
          </a:p>
          <a:p>
            <a:r>
              <a:rPr dirty="0"/>
              <a:t>AI/ML Training Course</a:t>
            </a:r>
          </a:p>
          <a:p>
            <a:r>
              <a:rPr dirty="0"/>
              <a:t>202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6450" y="104521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1. Introduction to EDA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2. EDA Philosophy &amp; Anscombe's Quartet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3. Data Types &amp; First Look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4. Distribution Analysis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5. Correlation Analysis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6. Categorical Analysis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7. Best Practices &amp; Pitfalls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8. Tools &amp; Resources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9.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What is Exploratory Data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9855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📊 Definition: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Critical process of initial data investigation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🎯 Key Objectives: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🔍 Understand data structure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📈 Identify patterns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🎯 Detect outliers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💡 Generate hypotheses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🧹 Guide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Anscombe's Quartet: Always Visualize!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🔥 Hidden Gem: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All 4 datasets have: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Same mean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Same variance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• Same correlation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But COMPLETELY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different distributions!</a:t>
            </a:r>
          </a:p>
          <a:p>
            <a:pPr>
              <a:spcAft>
                <a:spcPts val="1200"/>
              </a:spcAft>
              <a:defRPr sz="1800"/>
            </a:pP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💡 Never trust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statistics alone!</a:t>
            </a:r>
          </a:p>
        </p:txBody>
      </p:sp>
      <p:pic>
        <p:nvPicPr>
          <p:cNvPr id="4" name="Picture 3" descr="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830" y="1054417"/>
            <a:ext cx="5029200" cy="40890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Understanding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endParaRPr/>
          </a:p>
          <a:p>
            <a:r>
              <a:t>📊 CATEGORICAL (Qualitative):</a:t>
            </a:r>
          </a:p>
          <a:p>
            <a:r>
              <a:t>   ├─ Nominal: Colors, Gender, Country</a:t>
            </a:r>
          </a:p>
          <a:p>
            <a:r>
              <a:t>   ├─ Ordinal: Education Level, Ratings</a:t>
            </a:r>
          </a:p>
          <a:p>
            <a:r>
              <a:t>   └─ Binary: Yes/No, True/False</a:t>
            </a:r>
          </a:p>
          <a:p>
            <a:endParaRPr/>
          </a:p>
          <a:p>
            <a:r>
              <a:t>📈 NUMERICAL (Quantitative):</a:t>
            </a:r>
          </a:p>
          <a:p>
            <a:r>
              <a:t>   ├─ Discrete: Count data (0,1,2,3...)</a:t>
            </a:r>
          </a:p>
          <a:p>
            <a:r>
              <a:t>   └─ Continuous: Measurements</a:t>
            </a:r>
          </a:p>
          <a:p>
            <a:r>
              <a:t>       ├─ Interval: Temperature °C</a:t>
            </a:r>
          </a:p>
          <a:p>
            <a:r>
              <a:t>       └─ Ratio: Height, Weight</a:t>
            </a:r>
          </a:p>
          <a:p>
            <a:endParaRPr/>
          </a:p>
          <a:p>
            <a:r>
              <a:t>🔥 Don't treat ordinal as nominal - BIG MISTAKE!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First Look at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5-Step Ritual: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1️⃣ Check shape &amp; size</a:t>
            </a:r>
          </a:p>
          <a:p>
            <a:pPr>
              <a:spcAft>
                <a:spcPts val="1200"/>
              </a:spcAft>
              <a:defRPr sz="1800"/>
            </a:pPr>
            <a:r>
              <a:t>2️⃣ Examine dtypes</a:t>
            </a:r>
          </a:p>
          <a:p>
            <a:pPr>
              <a:spcAft>
                <a:spcPts val="1200"/>
              </a:spcAft>
              <a:defRPr sz="1800"/>
            </a:pPr>
            <a:r>
              <a:t>3️⃣ Preview rows</a:t>
            </a:r>
          </a:p>
          <a:p>
            <a:pPr>
              <a:spcAft>
                <a:spcPts val="1200"/>
              </a:spcAft>
              <a:defRPr sz="1800"/>
            </a:pPr>
            <a:r>
              <a:t>4️⃣ Calculate statistics</a:t>
            </a:r>
          </a:p>
          <a:p>
            <a:pPr>
              <a:spcAft>
                <a:spcPts val="1200"/>
              </a:spcAft>
              <a:defRPr sz="1800"/>
            </a:pPr>
            <a:r>
              <a:t>5️⃣ Find missing values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Dataset: (1000, 8)</a:t>
            </a:r>
          </a:p>
          <a:p>
            <a:pPr>
              <a:spcAft>
                <a:spcPts val="1200"/>
              </a:spcAft>
              <a:defRPr sz="1800"/>
            </a:pPr>
            <a:r>
              <a:t>Missing: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3657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df.shape</a:t>
            </a:r>
          </a:p>
          <a:p>
            <a:r>
              <a:t>df.info()</a:t>
            </a:r>
          </a:p>
          <a:p>
            <a:r>
              <a:t>df.head()</a:t>
            </a:r>
          </a:p>
          <a:p>
            <a:r>
              <a:t>df.describe()</a:t>
            </a:r>
          </a:p>
          <a:p>
            <a:r>
              <a:t>df.isnull().sum()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Distribution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📊 Key Metrics: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Mean: 49.86</a:t>
            </a:r>
          </a:p>
          <a:p>
            <a:pPr>
              <a:spcAft>
                <a:spcPts val="1200"/>
              </a:spcAft>
              <a:defRPr sz="1800"/>
            </a:pPr>
            <a:r>
              <a:t>Median: 50.00</a:t>
            </a:r>
          </a:p>
          <a:p>
            <a:pPr>
              <a:spcAft>
                <a:spcPts val="1200"/>
              </a:spcAft>
              <a:defRPr sz="1800"/>
            </a:pPr>
            <a:r>
              <a:t>Std: 18.11</a:t>
            </a:r>
          </a:p>
          <a:p>
            <a:pPr>
              <a:spcAft>
                <a:spcPts val="1200"/>
              </a:spcAft>
              <a:defRPr sz="1800"/>
            </a:pPr>
            <a:r>
              <a:t>Skew: -0.07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Check for:</a:t>
            </a:r>
          </a:p>
          <a:p>
            <a:pPr>
              <a:spcAft>
                <a:spcPts val="1200"/>
              </a:spcAft>
              <a:defRPr sz="1800"/>
            </a:pPr>
            <a:r>
              <a:t>• Normality</a:t>
            </a:r>
          </a:p>
          <a:p>
            <a:pPr>
              <a:spcAft>
                <a:spcPts val="1200"/>
              </a:spcAft>
              <a:defRPr sz="1800"/>
            </a:pPr>
            <a:r>
              <a:t>• Outliers</a:t>
            </a:r>
          </a:p>
          <a:p>
            <a:pPr>
              <a:spcAft>
                <a:spcPts val="1200"/>
              </a:spcAft>
              <a:defRPr sz="1800"/>
            </a:pPr>
            <a:r>
              <a:t>• Symmetry</a:t>
            </a:r>
          </a:p>
        </p:txBody>
      </p:sp>
      <p:pic>
        <p:nvPicPr>
          <p:cNvPr id="4" name="Picture 3" descr="dist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88720"/>
            <a:ext cx="5029200" cy="416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🔗 Types: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• Pearson</a:t>
            </a:r>
          </a:p>
          <a:p>
            <a:pPr>
              <a:spcAft>
                <a:spcPts val="1200"/>
              </a:spcAft>
              <a:defRPr sz="1800"/>
            </a:pPr>
            <a:r>
              <a:t>  (Linear)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• Spearman</a:t>
            </a:r>
          </a:p>
          <a:p>
            <a:pPr>
              <a:spcAft>
                <a:spcPts val="1200"/>
              </a:spcAft>
              <a:defRPr sz="1800"/>
            </a:pPr>
            <a:r>
              <a:t>  (Monotonic)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• Kendall</a:t>
            </a:r>
          </a:p>
          <a:p>
            <a:pPr>
              <a:spcAft>
                <a:spcPts val="1200"/>
              </a:spcAft>
              <a:defRPr sz="1800"/>
            </a:pPr>
            <a:r>
              <a:t>  (Robust)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Use all three!</a:t>
            </a:r>
          </a:p>
        </p:txBody>
      </p:sp>
      <p:pic>
        <p:nvPicPr>
          <p:cNvPr id="4" name="Picture 3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88720"/>
            <a:ext cx="5029200" cy="4502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Categorical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📊 Steps: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1️⃣ Frequencies</a:t>
            </a:r>
          </a:p>
          <a:p>
            <a:pPr>
              <a:spcAft>
                <a:spcPts val="1200"/>
              </a:spcAft>
              <a:defRPr sz="1800"/>
            </a:pPr>
            <a:r>
              <a:t>2️⃣ Percentages</a:t>
            </a:r>
          </a:p>
          <a:p>
            <a:pPr>
              <a:spcAft>
                <a:spcPts val="1200"/>
              </a:spcAft>
              <a:defRPr sz="1800"/>
            </a:pPr>
            <a:r>
              <a:t>3️⃣ Mode</a:t>
            </a:r>
          </a:p>
          <a:p>
            <a:pPr>
              <a:spcAft>
                <a:spcPts val="1200"/>
              </a:spcAft>
              <a:defRPr sz="1800"/>
            </a:pPr>
            <a:r>
              <a:t>4️⃣ Entropy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Categories: 4</a:t>
            </a:r>
          </a:p>
          <a:p>
            <a:pPr>
              <a:spcAft>
                <a:spcPts val="1200"/>
              </a:spcAft>
              <a:defRPr sz="1800"/>
            </a:pPr>
            <a:r>
              <a:t>Mode: PhD</a:t>
            </a:r>
          </a:p>
        </p:txBody>
      </p:sp>
      <p:pic>
        <p:nvPicPr>
          <p:cNvPr id="4" name="Picture 3" descr="cat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864" y="1211857"/>
            <a:ext cx="4611816" cy="3817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EDA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✅ Always visualize first</a:t>
            </a:r>
          </a:p>
          <a:p>
            <a:pPr>
              <a:spcAft>
                <a:spcPts val="1200"/>
              </a:spcAft>
              <a:defRPr sz="1800"/>
            </a:pPr>
            <a:r>
              <a:t>✅ Use multiple methods</a:t>
            </a:r>
          </a:p>
          <a:p>
            <a:pPr>
              <a:spcAft>
                <a:spcPts val="1200"/>
              </a:spcAft>
              <a:defRPr sz="1800"/>
            </a:pPr>
            <a:r>
              <a:t>✅ Check assumptions</a:t>
            </a:r>
          </a:p>
          <a:p>
            <a:pPr>
              <a:spcAft>
                <a:spcPts val="1200"/>
              </a:spcAft>
              <a:defRPr sz="1800"/>
            </a:pPr>
            <a:r>
              <a:t>✅ Document findings</a:t>
            </a:r>
          </a:p>
          <a:p>
            <a:pPr>
              <a:spcAft>
                <a:spcPts val="1200"/>
              </a:spcAft>
              <a:defRPr sz="1800"/>
            </a:pPr>
            <a:r>
              <a:t>✅ Question anomalies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❌ Don't auto-remove outliers</a:t>
            </a:r>
          </a:p>
          <a:p>
            <a:pPr>
              <a:spcAft>
                <a:spcPts val="1200"/>
              </a:spcAft>
              <a:defRPr sz="1800"/>
            </a:pPr>
            <a:r>
              <a:t>❌ Don't trust stats alone</a:t>
            </a:r>
          </a:p>
          <a:p>
            <a:pPr>
              <a:spcAft>
                <a:spcPts val="1200"/>
              </a:spcAft>
              <a:defRPr sz="1800"/>
            </a:pPr>
            <a:r>
              <a:t>❌ Don't ignore missing patterns</a:t>
            </a:r>
          </a:p>
          <a:p>
            <a:pPr>
              <a:spcAft>
                <a:spcPts val="1200"/>
              </a:spcAft>
              <a:defRPr sz="1800"/>
            </a:pPr>
            <a:r>
              <a:t>❌ Don't skip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Automated EDA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🔥 Top Tools: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1️⃣ Pandas Profiling</a:t>
            </a:r>
          </a:p>
          <a:p>
            <a:pPr>
              <a:spcAft>
                <a:spcPts val="1200"/>
              </a:spcAft>
              <a:defRPr sz="1800"/>
            </a:pPr>
            <a:r>
              <a:t>2️⃣ Sweetviz</a:t>
            </a:r>
          </a:p>
          <a:p>
            <a:pPr>
              <a:spcAft>
                <a:spcPts val="1200"/>
              </a:spcAft>
              <a:defRPr sz="1800"/>
            </a:pPr>
            <a:r>
              <a:t>3️⃣ AutoViz</a:t>
            </a:r>
          </a:p>
          <a:p>
            <a:pPr>
              <a:spcAft>
                <a:spcPts val="1200"/>
              </a:spcAft>
              <a:defRPr sz="1800"/>
            </a:pPr>
            <a:r>
              <a:t>4️⃣ D-Tale</a:t>
            </a:r>
          </a:p>
          <a:p>
            <a:pPr>
              <a:spcAft>
                <a:spcPts val="1200"/>
              </a:spcAft>
              <a:defRPr sz="1800"/>
            </a:pPr>
            <a:r>
              <a:t>5️⃣ DataPrep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All generate HTML reports</a:t>
            </a:r>
          </a:p>
          <a:p>
            <a:pPr>
              <a:spcAft>
                <a:spcPts val="1200"/>
              </a:spcAft>
              <a:defRPr sz="1800"/>
            </a:pPr>
            <a:r>
              <a:t>with one line of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🎯 THE GOLDEN RULES: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1️⃣ 👁️ ALWAYS VISUALIZE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2️⃣ 🔍 QUESTION EVERYTHING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3️⃣ 📊 USE MULTIPLE METHODS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4️⃣ 📝 DOCUMENT FINDINGS</a:t>
            </a:r>
          </a:p>
          <a:p>
            <a:pPr>
              <a:spcAft>
                <a:spcPts val="1200"/>
              </a:spcAft>
              <a:defRPr sz="1800"/>
            </a:pPr>
            <a:endParaRPr/>
          </a:p>
          <a:p>
            <a:pPr>
              <a:spcAft>
                <a:spcPts val="1200"/>
              </a:spcAft>
              <a:defRPr sz="1800"/>
            </a:pPr>
            <a:r>
              <a:t>5️⃣ 🔄 EDA IS ITERATIVE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EDA Presentation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000" y="669925"/>
            <a:ext cx="7772400" cy="1470025"/>
          </a:xfrm>
        </p:spPr>
        <p:txBody>
          <a:bodyPr/>
          <a:lstStyle/>
          <a:p>
            <a:pPr>
              <a:defRPr sz="5400" b="1">
                <a:solidFill>
                  <a:srgbClr val="2E86AB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1300" y="3111500"/>
            <a:ext cx="6400800" cy="1752600"/>
          </a:xfrm>
        </p:spPr>
        <p:txBody>
          <a:bodyPr/>
          <a:lstStyle/>
          <a:p>
            <a:r>
              <a:rPr dirty="0"/>
              <a:t>Questions?</a:t>
            </a:r>
          </a:p>
          <a:p>
            <a:r>
              <a:rPr lang="en-US" dirty="0"/>
              <a:t>anannyavyas91@gmail.com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506</Words>
  <Application>Microsoft Office PowerPoint</Application>
  <PresentationFormat>On-screen Show (16:9)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EXPLORATORY DATA ANALYSIS</vt:lpstr>
      <vt:lpstr>Table of Contents</vt:lpstr>
      <vt:lpstr>What is Exploratory Data Analysis?</vt:lpstr>
      <vt:lpstr>Anscombe's Quartet: Always Visualize!</vt:lpstr>
      <vt:lpstr>Understanding Data Types</vt:lpstr>
      <vt:lpstr>First Look at Data</vt:lpstr>
      <vt:lpstr>Distribution Analysis</vt:lpstr>
      <vt:lpstr>Correlation Analysis</vt:lpstr>
      <vt:lpstr>Categorical Analysis</vt:lpstr>
      <vt:lpstr>EDA Best Practices</vt:lpstr>
      <vt:lpstr>Automated EDA Tools</vt:lpstr>
      <vt:lpstr>Key Takeaways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anannya -</cp:lastModifiedBy>
  <cp:revision>2</cp:revision>
  <dcterms:created xsi:type="dcterms:W3CDTF">2013-01-27T09:14:16Z</dcterms:created>
  <dcterms:modified xsi:type="dcterms:W3CDTF">2026-03-16T12:03:08Z</dcterms:modified>
  <cp:category/>
</cp:coreProperties>
</file>